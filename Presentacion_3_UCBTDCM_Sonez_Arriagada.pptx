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2860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d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76483"/>
            <a:ext cx="2011680" cy="512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48840"/>
            <a:ext cx="1088136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Preferencias de sushi en Japón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86A5C"/>
                </a:solidFill>
                <a:latin typeface="Calibri"/>
              </a:rPr>
              <a:t>Heterogeneidad del consumidor y estrategia para el segmento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1088136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A9ADB3"/>
                </a:solidFill>
                <a:latin typeface="Calibri"/>
              </a:rPr>
              <a:t>Understanding Consumer Behavior through Discrete Choice Models  ·  HW3  ·  2026-1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Matías Arriagada R.      Vicente Soñez 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ADB3"/>
                </a:solidFill>
                <a:latin typeface="Calibri"/>
              </a:rPr>
              <a:t>Prof. Ph.D. Sebastián Astroza Tagle    —    6 de julio de 2026, Concepción,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El desafío: un océano azul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525780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En Chile el sushi se consume como comida rápida; falta una oferta de alta gama.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Japón —mercado maduro— ofrece lecciones para construir ese segmento premium.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¿Qué mueve la preferencia de sushi y a qué consumidor apuntar?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1">
                <a:solidFill>
                  <a:srgbClr val="6B7078"/>
                </a:solidFill>
                <a:latin typeface="Calibri"/>
              </a:rPr>
              <a:t>Datos: 5.000 consumidores · 10 tipos de sushi · ranking completo (Kamishima, 2003).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636776"/>
            <a:ext cx="118872" cy="118872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2395728"/>
            <a:ext cx="118872" cy="118872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3154680"/>
            <a:ext cx="118872" cy="118872"/>
          </a:xfrm>
          <a:prstGeom prst="ellipse">
            <a:avLst/>
          </a:prstGeom>
          <a:solidFill>
            <a:srgbClr val="6E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37760"/>
            <a:ext cx="51206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400" b="1" i="0">
                <a:solidFill>
                  <a:srgbClr val="E86A5C"/>
                </a:solidFill>
                <a:latin typeface="Cambria"/>
              </a:rPr>
              <a:t>34,3 %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eligió toro (atún graso) como su #1</a:t>
            </a:r>
          </a:p>
        </p:txBody>
      </p:sp>
      <p:pic>
        <p:nvPicPr>
          <p:cNvPr id="9" name="Picture 8" descr="choice_shares_s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87386"/>
            <a:ext cx="5394960" cy="32147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Tres preguntas, tres modelos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37943"/>
            <a:ext cx="274320" cy="27432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73352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3272E"/>
                </a:solidFill>
                <a:latin typeface="Cambria"/>
              </a:rPr>
              <a:t>Logit Multinomial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078"/>
                </a:solidFill>
                <a:latin typeface="Calibri"/>
              </a:rPr>
              <a:t>¿Quién se desvía del gusto promedio? Interacciones por edad y región.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163824"/>
            <a:ext cx="274320" cy="27432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999232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3272E"/>
                </a:solidFill>
                <a:latin typeface="Cambria"/>
              </a:rPr>
              <a:t>Nested Logit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078"/>
                </a:solidFill>
                <a:latin typeface="Calibri"/>
              </a:rPr>
              <a:t>¿Cómo sustituye el consumidor cuando su favorito no está?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489703"/>
            <a:ext cx="274320" cy="274320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25112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3272E"/>
                </a:solidFill>
                <a:latin typeface="Cambria"/>
              </a:rPr>
              <a:t>Clases Latentes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7078"/>
                </a:solidFill>
                <a:latin typeface="Calibri"/>
              </a:rPr>
              <a:t>¿Qué segmentos de consumidor —no observables— existen?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078"/>
                </a:solidFill>
                <a:latin typeface="Calibri"/>
              </a:rPr>
              <a:t>Estimados en Python (scipy) y R/Apollo, con validación cruzada entre ambos motores.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El precio funciona como señal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3035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E86A5C"/>
                </a:solidFill>
                <a:latin typeface="Cambria"/>
              </a:rPr>
              <a:t>β precio = +0,58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coeficiente positivo y significativo (z = 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539496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Contraintuitivo: a mayor precio, mayor preferencia. Los sushis más caros —toro y uni— son los más elegidos.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Es el Efecto Veblen: en una encuesta sin restricción de presupuesto, el precio señala calidad, no costo.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9B54"/>
                </a:solidFill>
                <a:latin typeface="Calibri"/>
              </a:rPr>
              <a:t>⇒  No descontar los productos estrella.</a:t>
            </a:r>
          </a:p>
        </p:txBody>
      </p:sp>
      <p:pic>
        <p:nvPicPr>
          <p:cNvPr id="6" name="Picture 5" descr="item_attribut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59" y="1508760"/>
            <a:ext cx="5218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La edad valora la grasa; hay brecha Este–Oeste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486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E86A5C"/>
                </a:solidFill>
                <a:latin typeface="Cambria"/>
              </a:rPr>
              <a:t>β grasa × edad = +0,089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efecto positivo y robusto (z = 5,2)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539496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A mayor edad, más utilidad del sushi grasoso (toro, anago) —incluso controlando por el gusto medio de cada ítem.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El Oeste prefiere sabores más ligeros: el efecto regional conjunto es significativo (p = 0,0004).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078"/>
                </a:solidFill>
                <a:latin typeface="Calibri"/>
              </a:rPr>
              <a:t>Precio y grasa están muy correlacionados (0,82), lo que dificulta separar ambos canales.</a:t>
            </a:r>
          </a:p>
        </p:txBody>
      </p:sp>
      <p:pic>
        <p:nvPicPr>
          <p:cNvPr id="6" name="Picture 5" descr="eastwest_p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85418"/>
            <a:ext cx="5303520" cy="30186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Se rompe la IIA: sustitución dentro del 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486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E86A5C"/>
                </a:solidFill>
                <a:latin typeface="Cambria"/>
              </a:rPr>
              <a:t>λ akami = 0,32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nido del atún: toro · maguro · tekka_maki (t = −26)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539496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Toro, maguro y tekka_maki son sustitutos ~3× más cercanos de lo que asume el MNL.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Si falta el toro, el consumidor migra a otro atún —no a un marisco cualquiera.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078"/>
                </a:solidFill>
                <a:latin typeface="Calibri"/>
              </a:rPr>
              <a:t>La independencia de alternativas irrelevantes se rechaza (LR = 573,5).</a:t>
            </a:r>
          </a:p>
        </p:txBody>
      </p:sp>
      <p:pic>
        <p:nvPicPr>
          <p:cNvPr id="6" name="Picture 5" descr="substitution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69318"/>
            <a:ext cx="5303520" cy="30508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Tres segmentos latentes de consumidores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60120"/>
                <a:gridCol w="1691640"/>
                <a:gridCol w="13716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76200" marR="50800" marT="38100" marB="38100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6200" marR="50800" marT="38100" marB="38100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Firma de gusto</a:t>
                      </a:r>
                    </a:p>
                  </a:txBody>
                  <a:tcPr marL="76200" marR="50800" marT="38100" marB="38100" anchor="ctr">
                    <a:solidFill>
                      <a:srgbClr val="2327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Perfil</a:t>
                      </a:r>
                    </a:p>
                  </a:txBody>
                  <a:tcPr marL="76200" marR="50800" marT="38100" marB="38100" anchor="ctr">
                    <a:solidFill>
                      <a:srgbClr val="23272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72E"/>
                          </a:solidFill>
                          <a:latin typeface="Calibri"/>
                        </a:rPr>
                        <a:t>Gourmet premium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E86A5C"/>
                          </a:solidFill>
                          <a:latin typeface="Calibri"/>
                        </a:rPr>
                        <a:t>33,7 %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72E"/>
                          </a:solidFill>
                          <a:latin typeface="Calibri"/>
                        </a:rPr>
                        <a:t>uni, toro, ikura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72E"/>
                          </a:solidFill>
                          <a:latin typeface="Calibri"/>
                        </a:rPr>
                        <a:t>mayor edad · 51% mujeres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72E"/>
                          </a:solidFill>
                          <a:latin typeface="Calibri"/>
                        </a:rPr>
                        <a:t>Gusto ligero</a:t>
                      </a:r>
                    </a:p>
                  </a:txBody>
                  <a:tcPr marL="76200" marR="50800" marT="38100" marB="38100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6E9B54"/>
                          </a:solidFill>
                          <a:latin typeface="Calibri"/>
                        </a:rPr>
                        <a:t>31,3 %</a:t>
                      </a:r>
                    </a:p>
                  </a:txBody>
                  <a:tcPr marL="76200" marR="50800" marT="38100" marB="38100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72E"/>
                          </a:solidFill>
                          <a:latin typeface="Calibri"/>
                        </a:rPr>
                        <a:t>ebi (rechaza uni)</a:t>
                      </a:r>
                    </a:p>
                  </a:txBody>
                  <a:tcPr marL="76200" marR="50800" marT="38100" marB="38100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72E"/>
                          </a:solidFill>
                          <a:latin typeface="Calibri"/>
                        </a:rPr>
                        <a:t>joven · Oeste · 64% mujeres</a:t>
                      </a:r>
                    </a:p>
                  </a:txBody>
                  <a:tcPr marL="76200" marR="50800" marT="38100" marB="38100" anchor="ctr">
                    <a:solidFill>
                      <a:srgbClr val="EFECE5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72E"/>
                          </a:solidFill>
                          <a:latin typeface="Calibri"/>
                        </a:rPr>
                        <a:t>Fanático del atún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Calibri"/>
                        </a:rPr>
                        <a:t>34,9 %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72E"/>
                          </a:solidFill>
                          <a:latin typeface="Calibri"/>
                        </a:rPr>
                        <a:t>toro, maguro, tekka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72E"/>
                          </a:solidFill>
                          <a:latin typeface="Calibri"/>
                        </a:rPr>
                        <a:t>hombre · Este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atent_clas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94223"/>
            <a:ext cx="5212080" cy="3601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94960"/>
            <a:ext cx="5943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078"/>
                </a:solidFill>
                <a:latin typeface="Calibri"/>
              </a:rPr>
              <a:t>Cada consumidor coloreado por su clase más probable; los tres segmentos tienen tamaños casi iguales.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Escenario A — Shock de precio del toro (+40%)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21208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Por el efecto Veblen, encarecer el toro lo hace MÁS atractivo: su share sube de 34,3% a 67,0% (Nested Logit).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El NL revela lo invisible al MNL: sus vecinos de nido se desploman mucho más —maguro 8,1→0,6% y tekka 2,3→0,2%.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E86A5C"/>
                </a:solidFill>
                <a:latin typeface="Cambria"/>
              </a:rPr>
              <a:t>+33 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share del toro (NL)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09160"/>
            <a:ext cx="27432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C0392B"/>
                </a:solidFill>
                <a:latin typeface="Cambria"/>
              </a:rPr>
              <a:t>−7,5 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maguro, canibalizado (NL)</a:t>
            </a:r>
          </a:p>
        </p:txBody>
      </p:sp>
      <p:pic>
        <p:nvPicPr>
          <p:cNvPr id="7" name="Picture 6" descr="scenario_A_nl_m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89988"/>
            <a:ext cx="566928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Escenario B — Promoción saludable (kappa-maki)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2120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Rebaja de −30% en precio y mayor disponibilidad (frecuencia 0,40 → 0,88).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3272E"/>
                </a:solidFill>
                <a:latin typeface="Calibri"/>
              </a:rPr>
              <a:t>El motor del crecimiento es la DISPONIBILIDAD (β freq = +2,17), no el precio: bajar precio incluso resta (Veblen).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24688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4000" b="1" i="0">
                <a:solidFill>
                  <a:srgbClr val="6E9B54"/>
                </a:solidFill>
                <a:latin typeface="Cambria"/>
              </a:rPr>
              <a:t>×2,4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share: 0,52% → 1,23%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977639"/>
            <a:ext cx="28346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3200" b="1" i="0">
                <a:solidFill>
                  <a:srgbClr val="6E9B54"/>
                </a:solidFill>
                <a:latin typeface="Cambria"/>
              </a:rPr>
              <a:t>+0,9 pp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078"/>
                </a:solidFill>
                <a:latin typeface="Calibri"/>
              </a:rPr>
              <a:t>jóvenes del Oeste (mayor respuesta)</a:t>
            </a:r>
          </a:p>
        </p:txBody>
      </p:sp>
      <p:pic>
        <p:nvPicPr>
          <p:cNvPr id="7" name="Picture 6" descr="scenario_B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89988"/>
            <a:ext cx="566928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3272E"/>
                </a:solidFill>
                <a:latin typeface="Cambria"/>
              </a:rPr>
              <a:t>Recomendaciones para el CEO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709928"/>
            <a:ext cx="384048" cy="384048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10149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3272E"/>
                </a:solidFill>
                <a:latin typeface="Cambria"/>
              </a:rPr>
              <a:t>Proteger márgenes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078"/>
                </a:solidFill>
                <a:latin typeface="Calibri"/>
              </a:rPr>
              <a:t>Sin promociones agresivas en las estrellas (toro, uni): el precio vende calidad.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852928"/>
            <a:ext cx="384048" cy="384048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10149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3272E"/>
                </a:solidFill>
                <a:latin typeface="Cambria"/>
              </a:rPr>
              <a:t>Blindar el nido del atún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078"/>
                </a:solidFill>
                <a:latin typeface="Calibri"/>
              </a:rPr>
              <a:t>Ante quiebre de toro, asegurar maguro y tekka_maki para retener la demanda dentro del nido.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995927"/>
            <a:ext cx="384048" cy="384048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6200"/>
            <a:ext cx="10149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3272E"/>
                </a:solidFill>
                <a:latin typeface="Cambria"/>
              </a:rPr>
              <a:t>Priorizar al 'fanático del atún'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078"/>
                </a:solidFill>
                <a:latin typeface="Calibri"/>
              </a:rPr>
              <a:t>34,9% del mercado y mayor ticket: abastecimiento premium y marketing exclusivo.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5138927"/>
            <a:ext cx="384048" cy="384048"/>
          </a:xfrm>
          <a:prstGeom prst="ellipse">
            <a:avLst/>
          </a:prstGeom>
          <a:solidFill>
            <a:srgbClr val="E86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101498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3272E"/>
                </a:solidFill>
                <a:latin typeface="Cambria"/>
              </a:rPr>
              <a:t>Saludables sin descuento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078"/>
                </a:solidFill>
                <a:latin typeface="Calibri"/>
              </a:rPr>
              <a:t>Crecer por disponibilidad y visibilidad comercial, no por rebajas de precio.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Del dato a la estrategia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E86A5C"/>
                </a:solidFill>
                <a:latin typeface="Calibri"/>
              </a:rPr>
              <a:t>Precio como señal de calidad  ·  sustitución por nido  ·  segmentos definidos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CEAE4"/>
                </a:solidFill>
                <a:latin typeface="Calibri"/>
              </a:rPr>
              <a:t>→ una hoja de ruta premium accionable.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Gracias.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ADB3"/>
                </a:solidFill>
                <a:latin typeface="Calibri"/>
              </a:rPr>
              <a:t>Matías Arriagada R.  ·  Vicente Soñez I.      |      github.com/maty20arriagada/Tarea-3-Sushi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